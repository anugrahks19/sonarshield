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b2b44253ab464e" /><Relationship Type="http://schemas.openxmlformats.org/officeDocument/2006/relationships/extended-properties" Target="/docProps/app.xml" Id="R80b5a8d9d11c4c66" /><Relationship Type="http://schemas.openxmlformats.org/officeDocument/2006/relationships/officeDocument" Target="/ppt/presentation.xml" Id="Ra5d67bda87cd4d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c473dc2e494498"/>
  </p:sldMasterIdLst>
  <p:notesMasterIdLst>
    <p:notesMasterId xmlns:r="http://schemas.openxmlformats.org/officeDocument/2006/relationships" r:id="R73f7a027ba0a471c"/>
  </p:notesMasterIdLst>
  <p:sldIdLst>
    <p:sldId xmlns:r="http://schemas.openxmlformats.org/officeDocument/2006/relationships" id="256" r:id="R86d59ba6aac04b64"/>
    <p:sldId xmlns:r="http://schemas.openxmlformats.org/officeDocument/2006/relationships" id="257" r:id="R6c37eab0f96b4450"/>
    <p:sldId xmlns:r="http://schemas.openxmlformats.org/officeDocument/2006/relationships" id="258" r:id="R384c66c47bc448a1"/>
    <p:sldId xmlns:r="http://schemas.openxmlformats.org/officeDocument/2006/relationships" id="259" r:id="R2815782511d448a8"/>
    <p:sldId xmlns:r="http://schemas.openxmlformats.org/officeDocument/2006/relationships" id="260" r:id="R472746974249414e"/>
    <p:sldId xmlns:r="http://schemas.openxmlformats.org/officeDocument/2006/relationships" id="261" r:id="Rf9290e4229c54f5e"/>
    <p:sldId xmlns:r="http://schemas.openxmlformats.org/officeDocument/2006/relationships" id="262" r:id="R027da04fc6d8493f"/>
    <p:sldId xmlns:r="http://schemas.openxmlformats.org/officeDocument/2006/relationships" id="263" r:id="R466515b0b38a4c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763529179c4794" /><Relationship Type="http://schemas.openxmlformats.org/officeDocument/2006/relationships/slideMaster" Target="/ppt/slideMasters/slideMaster1.xml" Id="R99c473dc2e494498" /><Relationship Type="http://schemas.openxmlformats.org/officeDocument/2006/relationships/notesMaster" Target="/ppt/notesMasters/notesMaster1.xml" Id="R73f7a027ba0a471c" /><Relationship Type="http://schemas.openxmlformats.org/officeDocument/2006/relationships/presProps" Target="/ppt/presProps.xml" Id="R131edffd9bde4fda" /><Relationship Type="http://schemas.openxmlformats.org/officeDocument/2006/relationships/tableStyles" Target="/ppt/tableStyles.xml" Id="R79d25f24e4f34b1f" /><Relationship Type="http://schemas.openxmlformats.org/officeDocument/2006/relationships/slide" Target="/ppt/slides/slide1.xml" Id="R86d59ba6aac04b64" /><Relationship Type="http://schemas.openxmlformats.org/officeDocument/2006/relationships/slide" Target="/ppt/slides/slide2.xml" Id="R6c37eab0f96b4450" /><Relationship Type="http://schemas.openxmlformats.org/officeDocument/2006/relationships/slide" Target="/ppt/slides/slide3.xml" Id="R384c66c47bc448a1" /><Relationship Type="http://schemas.openxmlformats.org/officeDocument/2006/relationships/slide" Target="/ppt/slides/slide4.xml" Id="R2815782511d448a8" /><Relationship Type="http://schemas.openxmlformats.org/officeDocument/2006/relationships/slide" Target="/ppt/slides/slide5.xml" Id="R472746974249414e" /><Relationship Type="http://schemas.openxmlformats.org/officeDocument/2006/relationships/slide" Target="/ppt/slides/slide6.xml" Id="Rf9290e4229c54f5e" /><Relationship Type="http://schemas.openxmlformats.org/officeDocument/2006/relationships/slide" Target="/ppt/slides/slide7.xml" Id="R027da04fc6d8493f" /><Relationship Type="http://schemas.openxmlformats.org/officeDocument/2006/relationships/slide" Target="/ppt/slides/slide8.xml" Id="R466515b0b38a4c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d2cd573c034e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468c196faf43b0" /><Relationship Type="http://schemas.openxmlformats.org/officeDocument/2006/relationships/notesMaster" Target="/ppt/notesMasters/notesMaster1.xml" Id="R36423ed5345e44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bdb2935e3a48bf" /><Relationship Type="http://schemas.openxmlformats.org/officeDocument/2006/relationships/notesMaster" Target="/ppt/notesMasters/notesMaster1.xml" Id="R55af2fdceb8943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9f3a903f9242e7" /><Relationship Type="http://schemas.openxmlformats.org/officeDocument/2006/relationships/notesMaster" Target="/ppt/notesMasters/notesMaster1.xml" Id="R0144ca5c742c40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caef6e4394423a" /><Relationship Type="http://schemas.openxmlformats.org/officeDocument/2006/relationships/notesMaster" Target="/ppt/notesMasters/notesMaster1.xml" Id="R41914927ba1b41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786227b59340cf" /><Relationship Type="http://schemas.openxmlformats.org/officeDocument/2006/relationships/notesMaster" Target="/ppt/notesMasters/notesMaster1.xml" Id="R6d09ca8fed9441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ec830fe7e74836" /><Relationship Type="http://schemas.openxmlformats.org/officeDocument/2006/relationships/notesMaster" Target="/ppt/notesMasters/notesMaster1.xml" Id="Rbbd313d7df6245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0ec99ccde543fa" /><Relationship Type="http://schemas.openxmlformats.org/officeDocument/2006/relationships/notesMaster" Target="/ppt/notesMasters/notesMaster1.xml" Id="R7711a053d0ca4c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50c3cf625c4bbc" /><Relationship Type="http://schemas.openxmlformats.org/officeDocument/2006/relationships/notesMaster" Target="/ppt/notesMasters/notesMaster1.xml" Id="Rb080d1be5a0943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PS26057 supplied by user. Current README and docs/PS26057_COMPLIANCE.md. Image: frontend/public/contact-105.jpg, paired historical sample, not a new experimental prediction.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docs/ARCHITECTURE.md, frontend/api routes, ai/runtime/pipeline.py. Current public deployment remains V6-based; experimental M2.08 is not deployed.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docs/metrics/module2-m211-selection-20261004.json and D1/M208/M210 evaluation JSON. Precision/recall are micro at selected global precision-floor thresholds, class-correct IoU0.5. mAP is standard validation sweep. 1129 images,2293 GT, reused historical DEV; synthetic ghost nets.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docs/MODULE2_CURATED_DATASET.md, MODULE2_D1_RESULTS.md, MODULE2_M208_RESULTS.md, MODULE2_M210_RESULTS.md and MODULE2_SOURCE_AUDIT.md. Automated screening does not certify semantic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docs/JUDGE_WALKTHROUGH.md and M2.11 browser evidence. Explicit examples do not infer on the uploaded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docs/PS26057_COMPLIANCE.md and MODULE1_RELEASE_20261003.md. Raw/XTF processing local only, geometry conditional, full motion correction partial, no hardware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docs/XTF_ACCURACY_RELEASE.md and MODULE2_M211_RELEASE.md. Future numerical goals are not predictions or achieved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docs/MODULE2_M212_SUBMISSION.md, JUDGE_WALKTHROUGH.md and M2.11 release evidence. Static backup has no live/cloud API. GPU timing from prior M208 warm batch1 FP32/640 measurement on RTX4060, not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653f401b945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12bd266b43429b" /><Relationship Type="http://schemas.openxmlformats.org/officeDocument/2006/relationships/slideLayout" Target="/ppt/slideLayouts/slideLayout1.xml" Id="R6b95eff196874d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95eff196874d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1dbe1fa084721" /><Relationship Type="http://schemas.openxmlformats.org/officeDocument/2006/relationships/image" Target="/ppt/media/image.jpeg" Id="R6a5772ee45014c2a" /><Relationship Type="http://schemas.openxmlformats.org/officeDocument/2006/relationships/notesSlide" Target="/ppt/notesSlides/notesSlide1.xml" Id="R7895ed6c5d9845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01e2b91154a4a" /><Relationship Type="http://schemas.openxmlformats.org/officeDocument/2006/relationships/notesSlide" Target="/ppt/notesSlides/notesSlide2.xml" Id="R21c922fee90449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db584848f440b" /><Relationship Type="http://schemas.openxmlformats.org/officeDocument/2006/relationships/notesSlide" Target="/ppt/notesSlides/notesSlide3.xml" Id="R4f94bf759a9b48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944d623e04e28" /><Relationship Type="http://schemas.openxmlformats.org/officeDocument/2006/relationships/notesSlide" Target="/ppt/notesSlides/notesSlide4.xml" Id="Rf6dc2530746f45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4216586254515" /><Relationship Type="http://schemas.openxmlformats.org/officeDocument/2006/relationships/notesSlide" Target="/ppt/notesSlides/notesSlide5.xml" Id="Raa6dfed9206544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14dcba7784fa1" /><Relationship Type="http://schemas.openxmlformats.org/officeDocument/2006/relationships/notesSlide" Target="/ppt/notesSlides/notesSlide6.xml" Id="Rb6b88e4f86fc46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b9ab936fd4c9d" /><Relationship Type="http://schemas.openxmlformats.org/officeDocument/2006/relationships/notesSlide" Target="/ppt/notesSlides/notesSlide7.xml" Id="R57481dd1b7134e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997b25a074530" /><Relationship Type="http://schemas.openxmlformats.org/officeDocument/2006/relationships/notesSlide" Target="/ppt/notesSlides/notesSlide8.xml" Id="Ref3e07e9e65c44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02CBF-035B-4C00-96B2-BC1187AC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SONAR-SHIELD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260DF-A108-46C6-A08C-CF32DC4C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19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Side-scan sonar candidate detection</a:t>
            </a:r>
          </a:p>
          <a:p xmlns:a="http://schemas.openxmlformats.org/drawingml/2006/main">
            <a:pPr>
              <a:defRPr sz="2850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and human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F50BC-94E2-40AF-8C8B-43D1A712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9D6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9D6EB"/>
                </a:solidFill>
                <a:latin typeface="Arial"/>
                <a:ea typeface="Arial"/>
                <a:cs typeface="Arial"/>
              </a:rPr>
              <a:t>PS 26057</a:t>
            </a:r>
          </a:p>
          <a:p xmlns:a="http://schemas.openxmlformats.org/drawingml/2006/main">
            <a:pPr>
              <a:defRPr sz="2100" b="0">
                <a:solidFill>
                  <a:srgbClr val="69D6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9D6EB"/>
                </a:solidFill>
                <a:latin typeface="Arial"/>
                <a:ea typeface="Arial"/>
                <a:cs typeface="Arial"/>
              </a:rPr>
              <a:t>Ministry of Earth Sciences / NIOT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2BA21-D82F-4A08-AD22-A6281027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Prototype submission</a:t>
            </a:r>
          </a:p>
          <a:p xmlns:a="http://schemas.openxmlformats.org/drawingml/2006/main">
            <a:pPr>
              <a:defRPr sz="18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4 October 2026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772ee45014c2a"/>
          <a:stretch xmlns:a="http://schemas.openxmlformats.org/drawingml/2006/main"/>
        </p:blipFill>
        <p:spPr>
          <a:xfrm xmlns:a="http://schemas.openxmlformats.org/drawingml/2006/main">
            <a:off x="7524750" y="1666875"/>
            <a:ext cx="3810000" cy="381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B44A6-9A3F-44A9-B0D1-AB04F62A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6197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9D6E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D6EB"/>
                </a:solidFill>
                <a:latin typeface="Arial"/>
                <a:ea typeface="Arial"/>
                <a:cs typeface="Arial"/>
              </a:rPr>
              <a:t>Precomputed sonar sample</a:t>
            </a:r>
          </a:p>
        </p:txBody>
      </p:sp>
    </p:spTree>
    <p:extLst>
      <p:ext uri="{BB962C8B-B14F-4D97-AF65-F5344CB8AC3E}">
        <p14:creationId xmlns:p14="http://schemas.microsoft.com/office/powerpoint/2010/main" val="1746191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3A53D-096C-40DA-8A08-E7923768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42AD1-6927-4AFF-BB0E-8E6022A6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03A"/>
          </a:solidFill>
          <a:ln xmlns:a="http://schemas.openxmlformats.org/drawingml/2006/main" w="9525">
            <a:solidFill>
              <a:srgbClr val="60CFD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B35AD-2BE2-4828-A112-E848E3D0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9D6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9D6EB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C0032-8C34-402A-8D49-C0D84175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Upload and viewer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C98C7-F679-416B-BF95-D3402E3E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571750"/>
            <a:ext cx="38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69D6EB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69D6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44451-8DA8-41DE-ACE1-F0C318E6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03A"/>
          </a:solidFill>
          <a:ln xmlns:a="http://schemas.openxmlformats.org/drawingml/2006/main" w="9525">
            <a:solidFill>
              <a:srgbClr val="60CFD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66F5E-D845-4F46-88A6-EBC0AC67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479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9D6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9D6EB"/>
                </a:solidFill>
                <a:latin typeface="Arial"/>
                <a:ea typeface="Arial"/>
                <a:cs typeface="Arial"/>
              </a:rPr>
              <a:t>Vercel gateway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1DD1D-46DC-4535-9B2D-C44CCA79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813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Server-only HF token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4B677-3A6F-4DB8-A577-9568EFDF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71750"/>
            <a:ext cx="38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69D6EB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69D6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B41BA-D2C3-49B9-9E4A-78B784CD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03A"/>
          </a:solidFill>
          <a:ln xmlns:a="http://schemas.openxmlformats.org/drawingml/2006/main" w="9525">
            <a:solidFill>
              <a:srgbClr val="60CF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61DCB-6C95-4CA4-84C3-71AA5D26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9D6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9D6EB"/>
                </a:solidFill>
                <a:latin typeface="Arial"/>
                <a:ea typeface="Arial"/>
                <a:cs typeface="Arial"/>
              </a:rPr>
              <a:t>HF ZeroGPU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68090-09F2-496E-978D-25821976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V6 and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C658C-5A10-4BFD-85E4-6743AA08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571750"/>
            <a:ext cx="38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69D6EB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69D6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2608B-63C1-498B-8EF0-18A17086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9550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03A"/>
          </a:solidFill>
          <a:ln xmlns:a="http://schemas.openxmlformats.org/drawingml/2006/main" w="9525">
            <a:solidFill>
              <a:srgbClr val="60CF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40B09-B01B-4D16-AF2C-2697B8F7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479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9D6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9D6EB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BB8AD-F035-4DC1-95A2-8D70E78A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8130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Notes and 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C0E5B-D522-4C7C-B3FC-2CA0B121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Image bytes upload directly to HF. The gateway receives only a file reference.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8831C4-A0C1-437B-8D6E-E0D70063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Supabase stores private records, review revisions and shared admission limits.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B1AE1-B6FD-4CBD-B6B6-6BD73B3F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9D6E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9D6EB"/>
                </a:solidFill>
                <a:latin typeface="Arial"/>
                <a:ea typeface="Arial"/>
                <a:cs typeface="Arial"/>
              </a:rPr>
              <a:t>Explicit paired examples remain interactive with no new inference.</a:t>
            </a:r>
          </a:p>
        </p:txBody>
      </p:sp>
    </p:spTree>
    <p:extLst>
      <p:ext uri="{BB962C8B-B14F-4D97-AF65-F5344CB8AC3E}">
        <p14:creationId xmlns:p14="http://schemas.microsoft.com/office/powerpoint/2010/main" val="2075586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F2B93-44C6-4214-BEC8-3009E967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Measured detector comparison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809750"/>
                <a:gridCol w="1714500"/>
                <a:gridCol w="1238250"/>
                <a:gridCol w="2000250"/>
                <a:gridCol w="2305050"/>
              </a:tblGrid>
              <a:tr h="690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9D6EB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91440" marR="91440" marT="45720" marB="45720">
                    <a:solidFill>
                      <a:srgbClr val="183D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9D6EB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183D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9D6EB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183D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9D6EB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183D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9D6EB"/>
                          </a:solidFill>
                          <a:latin typeface="Arial"/>
                          <a:ea typeface="Arial"/>
                          <a:cs typeface="Arial"/>
                        </a:rPr>
                        <a:t>mAP50</a:t>
                      </a:r>
                    </a:p>
                  </a:txBody>
                  <a:tcPr marL="91440" marR="91440" marT="45720" marB="45720">
                    <a:solidFill>
                      <a:srgbClr val="183D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9D6EB"/>
                          </a:solidFill>
                          <a:latin typeface="Arial"/>
                          <a:ea typeface="Arial"/>
                          <a:cs typeface="Arial"/>
                        </a:rPr>
                        <a:t>mAP50–95</a:t>
                      </a:r>
                    </a:p>
                  </a:txBody>
                  <a:tcPr marL="91440" marR="91440" marT="45720" marB="45720">
                    <a:solidFill>
                      <a:srgbClr val="183D49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D1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80.07%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40.12%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229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70.71%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50.01%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M2.08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80.10%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41.43%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236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69.90%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49.73%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M2.10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80.03%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40.38%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231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70.35%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49.89%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33086-39CF-4829-8434-D6D838F6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9D6E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9D6EB"/>
                </a:solidFill>
                <a:latin typeface="Arial"/>
                <a:ea typeface="Arial"/>
                <a:cs typeface="Arial"/>
              </a:rPr>
              <a:t>M2.08 maximizes recall under global precision ≥80%.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CD599-4133-4520-A49A-482EEE21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Reused historical DEV: 1,129 images and 2,293 objects.</a:t>
            </a:r>
          </a:p>
          <a:p xmlns:a="http://schemas.openxmlformats.org/drawingml/2006/main">
            <a:pPr>
              <a:defRPr sz="18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The 80/80 goal remains unmet. These weights are not deployed.</a:t>
            </a:r>
          </a:p>
        </p:txBody>
      </p:sp>
    </p:spTree>
    <p:extLst>
      <p:ext uri="{BB962C8B-B14F-4D97-AF65-F5344CB8AC3E}">
        <p14:creationId xmlns:p14="http://schemas.microsoft.com/office/powerpoint/2010/main" val="703528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82116-9C98-4962-9534-D84F8E32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32E87-2E19-4444-99E1-0F1CA37B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Data audit excluded defective crops and invalid labels in a new revision.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FF8B0-FE26-40A9-B49B-78E57D9F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User completed D1: 80 epochs, M2.08: 15, M2.10: 10.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B9FE0-8082-484C-B67C-6A2091EE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M2.08 improved precision-floor recall slightly.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F1C5F-2FEA-4F75-B7D6-5120E61E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Small crab pots and wrecks remain difficult. Warmup correction did not win.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D8582-B68D-49CE-A7F5-F5CC9E41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No further submission training. Compatible fusion/calibration remain missing.</a:t>
            </a:r>
          </a:p>
        </p:txBody>
      </p:sp>
    </p:spTree>
    <p:extLst>
      <p:ext uri="{BB962C8B-B14F-4D97-AF65-F5344CB8AC3E}">
        <p14:creationId xmlns:p14="http://schemas.microsoft.com/office/powerpoint/2010/main" val="312450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6F03E-859A-4E75-A0C6-B1849382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Judge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B652C-0E85-4542-A5B0-ACAA0D18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1   Try live analysis on a JPG/PNG image.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5CC86-AD0C-4D0D-98ED-4ECE118F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2   If quota fails, explicitly confirm a precomputed sample.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4F3B1-C72E-488C-8BBF-92D22530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3   Inspect a candidate and evidence, then save a separate human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664EB-BDE9-43D1-AD4A-75655249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4   Open Reports and export JSON/CSV or print with the source label.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22EC9-4FB6-43C1-A065-BDF6C63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5   Export a complete record or reopen an authorized cloud record.</a:t>
            </a:r>
          </a:p>
        </p:txBody>
      </p:sp>
    </p:spTree>
    <p:extLst>
      <p:ext uri="{BB962C8B-B14F-4D97-AF65-F5344CB8AC3E}">
        <p14:creationId xmlns:p14="http://schemas.microsoft.com/office/powerpoint/2010/main" val="441108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D7E71-F90D-46A8-AA21-837C93B2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PS 26057 implementation scope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6232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9D6EB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91440" marR="91440" marT="45720" marB="45720">
                    <a:solidFill>
                      <a:srgbClr val="183D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69D6EB"/>
                          </a:solidFill>
                          <a:latin typeface="Arial"/>
                          <a:ea typeface="Arial"/>
                          <a:cs typeface="Arial"/>
                        </a:rPr>
                        <a:t>Prototype status</a:t>
                      </a:r>
                    </a:p>
                  </a:txBody>
                  <a:tcPr marL="91440" marR="91440" marT="45720" marB="45720">
                    <a:solidFill>
                      <a:srgbClr val="183D49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 detection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Five-class boxes and candidate evidence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Confidence / noise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Scores and quality fields; calibration unavailable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Geotagging / dimensions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Conditional estimates with reviewed metadata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Raw sonar / motion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 bounded XTF; full correction incomplete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Dashboard / reports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Public image flow, human review, JSON/CSV/print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Edge deployment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Authenticated local API; hardware unverified</a:t>
                      </a:r>
                    </a:p>
                  </a:txBody>
                  <a:tcPr marL="91440" marR="91440" marT="45720" marB="45720">
                    <a:solidFill>
                      <a:srgbClr val="0F2933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46181-868F-48E6-A84B-D7E60CBC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9D6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D6EB"/>
                </a:solidFill>
                <a:latin typeface="Arial"/>
                <a:ea typeface="Arial"/>
                <a:cs typeface="Arial"/>
              </a:rPr>
              <a:t>Public XTF remains gated by confirmed labels and independent evaluation.</a:t>
            </a:r>
          </a:p>
        </p:txBody>
      </p:sp>
    </p:spTree>
    <p:extLst>
      <p:ext uri="{BB962C8B-B14F-4D97-AF65-F5344CB8AC3E}">
        <p14:creationId xmlns:p14="http://schemas.microsoft.com/office/powerpoint/2010/main" val="9656525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F2FEE-BF02-402C-8688-9D552AF6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Limits and future accuracy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8E82D-5D58-44BF-9097-73EC96AB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Finite shared HF quota. Reachability does not guarantee inference.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053A4-D195-40AD-A323-27021174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Independent field accuracy, real-net coverage and full motion handling are open.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3747D-A6D9-4A45-BA83-C7B299AB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Confirm real targets/backgrounds and reserve acquisition-disjoint test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6E8F0-BB2F-4497-BD5C-A35B4B41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Improve labels and small-target localization before controlled experiments.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B1AE0-47E5-416B-94B1-7CA74DE1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Refit compatible fusion and calibration, then test one frozen operating point.</a:t>
            </a:r>
          </a:p>
        </p:txBody>
      </p:sp>
    </p:spTree>
    <p:extLst>
      <p:ext uri="{BB962C8B-B14F-4D97-AF65-F5344CB8AC3E}">
        <p14:creationId xmlns:p14="http://schemas.microsoft.com/office/powerpoint/2010/main" val="8513262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C14C7-FAE7-480F-A639-1BB639C5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Submission and demo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D9C49-248F-4333-821C-A7BAE65F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69D6E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69D6EB"/>
                </a:solidFill>
                <a:latin typeface="Arial"/>
                <a:ea typeface="Arial"/>
                <a:cs typeface="Arial"/>
              </a:rPr>
              <a:t>sonarshield26.vercel.app/analysis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277A0-426D-4C53-A042-3A3215F1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Local backup: paired examples, interactive review and report exports.</a:t>
            </a:r>
          </a:p>
          <a:p xmlns:a="http://schemas.openxmlformats.org/drawingml/2006/main">
            <a:pPr>
              <a:defRPr sz="2250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Hashed evidence package and editable deck accompany the prototype.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244EA-A82D-48C2-B3F0-921064C4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M2.08 warm GPU forward: 7.53 ms.</a:t>
            </a:r>
          </a:p>
          <a:p xmlns:a="http://schemas.openxmlformats.org/drawingml/2006/main">
            <a:pPr>
              <a:defRPr sz="2100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This excludes upload, queues and evidence fusion.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7E7DD-682A-4F77-A973-B7AD2A8A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47 frontend tests, 52 backend tests and five browser scenarios passed.</a:t>
            </a:r>
          </a:p>
          <a:p xmlns:a="http://schemas.openxmlformats.org/drawingml/2006/main">
            <a:pPr>
              <a:defRPr sz="1800" b="0">
                <a:solidFill>
                  <a:srgbClr val="DCEEF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EF3"/>
                </a:solidFill>
                <a:latin typeface="Arial"/>
                <a:ea typeface="Arial"/>
                <a:cs typeface="Arial"/>
              </a:rPr>
              <a:t>Fresh real HF success and independent field accuracy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928075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2026-10-04T11:15:18.6000000Z</dcterms:created>
  <dcterms:modified xsi:type="dcterms:W3CDTF">2026-10-04T11:15:18.6000000Z</dcterms:modified>
</coreProperties>
</file>